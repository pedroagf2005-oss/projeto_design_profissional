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[GABRIEL] Boa noite, professor, boa noite a todos. Nós somos o grupo do Gabriel, Matheus, Pedro, Daniel e Guilherme. Hoje vamos apresentar o nosso parecer técnico sobre o caso NexaTech. A proposta é que vocês nos vejam como uma consultoria de TI que foi chamada para auditar o sistema depois que ele saiu do ar. Cada integrante apresenta uma parte e, no final, abrimos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[GABRIEL] A auditoria do ShopSmart foi dividida em quatro frentes. O nosso grupo ficou com a frente 3, que trata da interface e da identidade visual, ou seja, dos ícones, das ilustrações e das fontes que foram usadas no sistema. A apresentação segue as três perguntas do parecer: o que foi feito de errado, qual é a base legal e ética e como a equipe deveria ter agido. No final a gente acrescentou um plano de ação, porque uma consultoria não para no diagnóstico. Ela precisa dizer ao cliente o que fazer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[GABRIEL] Para contextualizar: a NexaTech era uma startup de TI que criou o ShopSmart, um sistema de automação comercial. O produto vendeu bem, mas em menos de um ano foi retirado do mercado por ordem judicial, e hoje a empresa responde a processos que somam cerca de dois milhões de reais. A auditoria encontrou quatro problemas diferentes: uma biblioteca GPLv3 usada dentro de um software fechado, código gerado por IA com trechos de concorrentes, a identidade visual e a falta de registro do software no INPI. Esses dois milhões são o total dos processos, não só da nossa parte. A partir daqui o Matheus explica o que aconteceu na identidade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[MATHEUS] Obrigado, Gabriel. O designer da equipe baixou da internet ícones, ilustrações e um pacote de fontes, e todo esse material tinha a licença Creative Commons BY-NC-ND. Depois disso aconteceram duas coisas. Os ícones foram recoloridos para combinar com o layout do sistema, e o ShopSmart foi vendido com esse material dentro. O erro de fundo foi que ninguém conferiu a licença de cada arquivo antes do lançamento. A equipe tratou o que estava disponível na internet como se fosse livre, e o problema só apareceu quando o produto já estava no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[MATHEUS] Para entender por que isso é grave, vale ler a licença sigla por sigla. BY exige dar crédito ao autor. O caso não diz se houve crédito ou não, então a gente não vai afirmar nada sobre isso. NC proíbe o uso comercial, e o ShopSmart era vendido, então essa condição foi descumprida. ND só permite distribuir cópias exatas, sem alteração, e os ícones foram recoloridos. As fontes não foram modificadas, mas foram distribuídas dentro de um produto vendido, então também esbarram no NC. Se alguém quiser discutir se trocar a cor é ou não uma modificação, a violação do NC sozinha já bastaria.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[MATHEUS] Esse é o ponto central do parecer. A licença Creative Commons não é uma autorização geral, é uma autorização com condições. Pela seção 6 da versão 4.0, quem descumpre uma condição perde a licença automaticamente. Então a NexaTech não estava só usando o material de um jeito errado: estava usando material sem autorização nenhuma. A partir daí vale a regra geral do direito autoral, e quem mostra essa base legal é o Pedro.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[PEDRO] Obrigado, Matheus. A base legal está na Lei 9.610 de 1998, a Lei de Direitos Autorais. O artigo 7º lista as obras protegidas, e os incisos oito e nove incluem desenhos e ilustrações. Os ícones entram aí. O artigo 18 diz que essa proteção não depende de registro, então não importa se o autor registrou os ícones em algum lugar. O artigo 29 é o mais importante para o caso: qualquer uso da obra, como reproduzir, adaptar ou distribuir, depende de autorização prévia e expressa do autor. E o artigo 24, inciso quatro, garante ao autor o direito de se opor a modificações na obra, que é justamente o que aconteceu com a troca de cor.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[PEDRO] A mesma lei explica por que o sistema saiu do ar. O artigo 102 permite que o autor peça a apreensão das cópias e a suspensão da divulgação, sem prejuízo da indenização. É esse tipo de pedido que leva a ordens judiciais como as que tiraram o ShopSmart do mercado. O artigo 103 diz que quem edita uma obra sem autorização perde os exemplares apreendidos e ainda paga ao autor o preço dos que já vendeu. E existe a esfera penal: o artigo 184 do Código Penal, no parágrafo segundo, prevê reclusão de dois a quatro anos e multa para quem vende obra com violação de direito autoral com intuito de lucro. Agora o Daniel apresenta a parte ética.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[DANIEL] Obrigado, Pedro. Além da lei, existe a responsabilidade profissional. O Código de Ética da ACM, no princípio 1.5, pede que o profissional respeite o trabalho de quem cria ideias, obras e artefatos de computação. O princípio 2.3 pede que ele conheça e respeite as regras do próprio trabalho. O código da SBC vai na mesma linha quando fala em integridade técnica e competência profissional. Para o nosso grupo isso se resume na frase do slide: quem entrega um produto precisa saber de onde vem o que está dentro dele. Não dá para alegar que não sabia, porque conferir a origem do material faz parte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[DANIEL] Então, como a equipe deveria ter agido? Primeiro, conferindo a licença antes de baixar qualquer material: origem, autor e termos de uso. Com esses ícones, a própria sigla já mostrava que eles não podiam ser vendidos nem alterados. Segundo, escolhendo material que permite venda e modificação, como CC BY, CC0, fontes sob a licença SIL Open Font e ícones sob MIT ou Apache. O buscador Openverse, por exemplo, deixa filtrar por uso comercial e por permissão de modificação. Terceiro, mantendo um inventário de licenças, uma planilha simples com o nome do material, autor, origem, licença e autorizações recebidas. E quarto, auditando antes de cada versão. A apostila recomenda a auditoria de licenças e cita ferramentas como FOSSA, Black Duck e license-checker, mas lembra que a responsabilidade continua sendo da equipe. Essa conferência não pode ficar só com o designer. O time de desenvolvimento tem que participar, dentro do ethical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[GUILHERME] Obrigado, Daniel. Como consultoria, a nossa recomendação para a NexaTech hoje tem três etapas. Agora, tirar do produto todo ícone, ilustração e fonte com licença NC ou ND e substituir por material liberado para uso comercial. Em até trinta dias, procurar os autores para negociar uma licença comercial ou um acordo. A versão 4.0 da Creative Commons prevê que, se a violação for corrigida em até trinta dias depois de descoberta, a licença volta a valer. Mas isso não apaga o que o autor já pode cobrar pelo período anterior. E daqui em diante, manter o inventário de licenças junto com o código e tornar a checagem obrigatória antes de cada nova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[GUILHERME] Para fechar: o caso NexaTech mostra que licença é requisito do projeto, assim como segurança e desempenho. Não é um detalhe jurídico para resolver depois do lançamento. Um pacote de ícones baixado sem conferir a licença já foi suficiente para colocar a empresa em risco. Agradecemos a atenção e ficamos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apoio. Deixar na tela durante as perguntas, se o professor pedir as fontes.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0A870"/>
                </a:solidFill>
                <a:latin typeface="IBM Plex Sans"/>
              </a:rPr>
              <a:t>DESIGN PROFISSIONAL · UDF · UNIDADE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95500"/>
            <a:ext cx="10566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0A870"/>
                </a:solidFill>
                <a:latin typeface="IBM Plex Sans"/>
              </a:rPr>
              <a:t>Parecer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444750"/>
            <a:ext cx="10566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5F3EE"/>
                </a:solidFill>
                <a:latin typeface="IBM Plex Serif"/>
              </a:rPr>
              <a:t>Caso NexaTech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492500"/>
            <a:ext cx="889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9CFDB"/>
                </a:solidFill>
                <a:latin typeface="IBM Plex Sans"/>
              </a:rPr>
              <a:t>Ícones, ilustrações e fontes sob licença Creative Commons BY-NC-ND no sistema ShopSmart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5334000"/>
            <a:ext cx="105664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9CFDB"/>
                </a:solidFill>
                <a:latin typeface="IBM Plex Sans"/>
              </a:rPr>
              <a:t>Gabriel Victor Araújo da Cruz · Matheus Teixeira de Oliveira · Pedro Augusto Gomes Fernandes · Daniel dos Santos · Guilherme de Pontes Nunes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8293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9CFDB"/>
                </a:solidFill>
                <a:latin typeface="IBM Plex Sans"/>
              </a:rPr>
              <a:t>Brasília, 2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APRESENTAÇÃO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Escopo da consultoria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133600"/>
            <a:ext cx="4699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A auditoria do ShopSmart foi dividida em quatro frentes.</a:t>
            </a:r>
          </a:p>
          <a:p>
            <a:pPr algn="l">
              <a:lnSpc>
                <a:spcPct val="130000"/>
              </a:lnSpc>
              <a:spcBef>
                <a:spcPts val="1120"/>
              </a:spcBef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Nosso grupo ficou com a </a:t>
            </a:r>
            <a:r>
              <a:rPr sz="1600" b="1" i="0">
                <a:solidFill>
                  <a:srgbClr val="15203A"/>
                </a:solidFill>
                <a:latin typeface="IBM Plex Sans"/>
              </a:rPr>
              <a:t>frente 3, interface e identidade visual</a:t>
            </a:r>
            <a:r>
              <a:rPr sz="1600" b="0" i="0">
                <a:solidFill>
                  <a:srgbClr val="3E4658"/>
                </a:solidFill>
                <a:latin typeface="IBM Plex Sans"/>
              </a:rPr>
              <a:t>: os ícones, as ilustrações e as fontes usadas no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133600"/>
            <a:ext cx="4978400" cy="19050"/>
          </a:xfrm>
          <a:prstGeom prst="rect">
            <a:avLst/>
          </a:prstGeom>
          <a:solidFill>
            <a:srgbClr val="15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273300"/>
            <a:ext cx="4978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A03F14"/>
                </a:solidFill>
                <a:latin typeface="IBM Plex Sans"/>
              </a:rPr>
              <a:t>1    </a:t>
            </a:r>
            <a:r>
              <a:rPr sz="1600" b="0" i="0">
                <a:solidFill>
                  <a:srgbClr val="15203A"/>
                </a:solidFill>
                <a:latin typeface="IBM Plex Sans"/>
              </a:rPr>
              <a:t>O caso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686050"/>
            <a:ext cx="4978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832100"/>
            <a:ext cx="4978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A03F14"/>
                </a:solidFill>
                <a:latin typeface="IBM Plex Sans"/>
              </a:rPr>
              <a:t>2    </a:t>
            </a:r>
            <a:r>
              <a:rPr sz="1600" b="0" i="0">
                <a:solidFill>
                  <a:srgbClr val="15203A"/>
                </a:solidFill>
                <a:latin typeface="IBM Plex Sans"/>
              </a:rPr>
              <a:t>O que foi feito de errado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44850"/>
            <a:ext cx="4978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90900"/>
            <a:ext cx="4978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A03F14"/>
                </a:solidFill>
                <a:latin typeface="IBM Plex Sans"/>
              </a:rPr>
              <a:t>3    </a:t>
            </a:r>
            <a:r>
              <a:rPr sz="1600" b="0" i="0">
                <a:solidFill>
                  <a:srgbClr val="15203A"/>
                </a:solidFill>
                <a:latin typeface="IBM Plex Sans"/>
              </a:rPr>
              <a:t>Base legal e ética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803650"/>
            <a:ext cx="4978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49700"/>
            <a:ext cx="4978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A03F14"/>
                </a:solidFill>
                <a:latin typeface="IBM Plex Sans"/>
              </a:rPr>
              <a:t>4    </a:t>
            </a:r>
            <a:r>
              <a:rPr sz="1600" b="0" i="0">
                <a:solidFill>
                  <a:srgbClr val="15203A"/>
                </a:solidFill>
                <a:latin typeface="IBM Plex Sans"/>
              </a:rPr>
              <a:t>Como a equipe deveria ter agido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62450"/>
            <a:ext cx="4978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508500"/>
            <a:ext cx="4978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A03F14"/>
                </a:solidFill>
                <a:latin typeface="IBM Plex Sans"/>
              </a:rPr>
              <a:t>5    </a:t>
            </a:r>
            <a:r>
              <a:rPr sz="1600" b="0" i="0">
                <a:solidFill>
                  <a:srgbClr val="15203A"/>
                </a:solidFill>
                <a:latin typeface="IBM Plex Sans"/>
              </a:rPr>
              <a:t>Plano de ação para a NexaTech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921250"/>
            <a:ext cx="4978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1 · O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O colapso da NexaTech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33600"/>
            <a:ext cx="3384550" cy="1714500"/>
          </a:xfrm>
          <a:prstGeom prst="roundRect">
            <a:avLst>
              <a:gd name="adj" fmla="val 5925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362200"/>
            <a:ext cx="2876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A03F14"/>
                </a:solidFill>
                <a:latin typeface="IBM Plex Serif"/>
              </a:rPr>
              <a:t>ShopSmart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022600"/>
            <a:ext cx="28765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Sistema de automação comercial, sucesso de vendas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0550" y="2133600"/>
            <a:ext cx="3384550" cy="1714500"/>
          </a:xfrm>
          <a:prstGeom prst="roundRect">
            <a:avLst>
              <a:gd name="adj" fmla="val 5925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550" y="2362200"/>
            <a:ext cx="2876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A03F14"/>
                </a:solidFill>
                <a:latin typeface="IBM Plex Serif"/>
              </a:rPr>
              <a:t>&lt; 1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550" y="3022600"/>
            <a:ext cx="28765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Até sair do ar por ordem judicial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8300" y="2133600"/>
            <a:ext cx="3384550" cy="1714500"/>
          </a:xfrm>
          <a:prstGeom prst="roundRect">
            <a:avLst>
              <a:gd name="adj" fmla="val 5925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2300" y="2362200"/>
            <a:ext cx="2876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A03F14"/>
                </a:solidFill>
                <a:latin typeface="IBM Plex Serif"/>
              </a:rPr>
              <a:t>R$ 2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2300" y="3022600"/>
            <a:ext cx="28765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Em processos contra a empresa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191000"/>
            <a:ext cx="10566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A auditoria encontrou quatro problemas: biblioteca GPLv3 no núcleo, código gerado por IA, identidade visual e falta de registro no INPI. Este parecer trata do terceiro.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2 · O ERRO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O que foi feito de errado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33600"/>
            <a:ext cx="304800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362200"/>
            <a:ext cx="254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5203A"/>
                </a:solidFill>
                <a:latin typeface="IBM Plex Serif"/>
              </a:rPr>
              <a:t>Baixou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832100"/>
            <a:ext cx="254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Ícones, ilustrações e fontes da internet, sob CC BY-NC-ND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13200" y="2984500"/>
            <a:ext cx="406400" cy="203200"/>
          </a:xfrm>
          <a:prstGeom prst="rightArrow">
            <a:avLst/>
          </a:prstGeom>
          <a:solidFill>
            <a:srgbClr val="A03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133600"/>
            <a:ext cx="304800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2362200"/>
            <a:ext cx="254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5203A"/>
                </a:solidFill>
                <a:latin typeface="IBM Plex Serif"/>
              </a:rPr>
              <a:t>Alterou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0" y="2832100"/>
            <a:ext cx="254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Os ícones foram recoloridos para combinar com o layout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2984500"/>
            <a:ext cx="406400" cy="203200"/>
          </a:xfrm>
          <a:prstGeom prst="rightArrow">
            <a:avLst/>
          </a:prstGeom>
          <a:solidFill>
            <a:srgbClr val="A03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31200" y="2133600"/>
            <a:ext cx="304800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85200" y="2362200"/>
            <a:ext cx="254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5203A"/>
                </a:solidFill>
                <a:latin typeface="IBM Plex Serif"/>
              </a:rPr>
              <a:t>Vendeu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5200" y="2832100"/>
            <a:ext cx="254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O ShopSmart foi comercializado com esse material dentro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3815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Ninguém conferiu a licença antes do lançamento. O conflito só apareceu com o produto já no mercado.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2 · O ERRO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A licença, sigla por sigla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133600"/>
          <a:ext cx="105664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968"/>
                <a:gridCol w="3169920"/>
                <a:gridCol w="3592576"/>
                <a:gridCol w="2535936"/>
              </a:tblGrid>
              <a:tr h="558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03A"/>
                          </a:solidFill>
                          <a:latin typeface="IBM Plex Sans"/>
                        </a:rPr>
                        <a:t>Sigla</a:t>
                      </a:r>
                    </a:p>
                  </a:txBody>
                  <a:tcPr anchor="ctr" marL="127000" marR="127000"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03A"/>
                          </a:solidFill>
                          <a:latin typeface="IBM Plex Sans"/>
                        </a:rPr>
                        <a:t>O que exige</a:t>
                      </a:r>
                    </a:p>
                  </a:txBody>
                  <a:tcPr anchor="ctr" marL="127000" marR="127000"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03A"/>
                          </a:solidFill>
                          <a:latin typeface="IBM Plex Sans"/>
                        </a:rPr>
                        <a:t>O que a NexaTech fez</a:t>
                      </a:r>
                    </a:p>
                  </a:txBody>
                  <a:tcPr anchor="ctr" marL="127000" marR="127000"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03A"/>
                          </a:solidFill>
                          <a:latin typeface="IBM Plex Sans"/>
                        </a:rPr>
                        <a:t>Situação</a:t>
                      </a:r>
                    </a:p>
                  </a:txBody>
                  <a:tcPr anchor="ctr" marL="127000" marR="127000">
                    <a:solidFill>
                      <a:srgbClr val="E8E4D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BY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Dar crédito ao autor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O caso não informa se houve crédito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Sem dados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NC</a:t>
                      </a:r>
                    </a:p>
                  </a:txBody>
                  <a:tcPr anchor="ctr" marL="127000" marR="127000"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Nada de uso comercial</a:t>
                      </a:r>
                    </a:p>
                  </a:txBody>
                  <a:tcPr anchor="ctr" marL="127000" marR="127000"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Vendeu o software com o material</a:t>
                      </a:r>
                    </a:p>
                  </a:txBody>
                  <a:tcPr anchor="ctr" marL="127000" marR="127000"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03F14"/>
                          </a:solidFill>
                          <a:latin typeface="IBM Plex Sans"/>
                        </a:rPr>
                        <a:t>Violada</a:t>
                      </a:r>
                    </a:p>
                  </a:txBody>
                  <a:tcPr anchor="ctr" marL="127000" marR="127000">
                    <a:solidFill>
                      <a:srgbClr val="F5F3E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ND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Nada de modificação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03A"/>
                          </a:solidFill>
                          <a:latin typeface="IBM Plex Sans"/>
                        </a:rPr>
                        <a:t>Recoloriu os ícones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03F14"/>
                          </a:solidFill>
                          <a:latin typeface="IBM Plex Sans"/>
                        </a:rPr>
                        <a:t>Violada</a:t>
                      </a:r>
                    </a:p>
                  </a:txBody>
                  <a:tcPr anchor="ctr" marL="127000" marR="127000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46990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As fontes não foram alteradas, mas foram vendidas dentro do produto: também esbarram no 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Fonte: Creative Commons, licença BY-NC-ND 4.0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03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8415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F3EE"/>
                </a:solidFill>
                <a:latin typeface="IBM Plex Sans"/>
              </a:rPr>
              <a:t>O PONTO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222500"/>
            <a:ext cx="105664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5F3EE"/>
                </a:solidFill>
                <a:latin typeface="IBM Plex Serif"/>
              </a:rPr>
              <a:t>Descumpriu uma condição, perdeu a licença.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4000500"/>
            <a:ext cx="889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5F3EE"/>
                </a:solidFill>
                <a:latin typeface="IBM Plex Sans"/>
              </a:rPr>
              <a:t>Pela seção 6 da licença CC 4.0, o direito de uso termina automaticamente. O material volta a ser "todos os direitos reservados", e qualquer uso passa a depender de autorização do autor.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F5F3EE"/>
                </a:solidFill>
                <a:latin typeface="IBM Plex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3 · BASE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Lei de Direitos Autorais (Lei 9.610/98)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336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362200"/>
            <a:ext cx="4673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03F14"/>
                </a:solidFill>
                <a:latin typeface="IBM Plex Serif"/>
              </a:rPr>
              <a:t>Art. 7º, VIII e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8321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Desenhos e ilustrações são obras protegidas. Os ícones entram aqui.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600" y="21336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1600" y="2362200"/>
            <a:ext cx="4673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03F14"/>
                </a:solidFill>
                <a:latin typeface="IBM Plex Serif"/>
              </a:rPr>
              <a:t>Art.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28321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A proteção não depende de registro.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8608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4089400"/>
            <a:ext cx="4673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03F14"/>
                </a:solidFill>
                <a:latin typeface="IBM Plex Serif"/>
              </a:rPr>
              <a:t>Art. 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5593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Reproduzir, adaptar ou distribuir exige autorização prévia e expressa do autor.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38608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1600" y="4089400"/>
            <a:ext cx="4673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03F14"/>
                </a:solidFill>
                <a:latin typeface="IBM Plex Serif"/>
              </a:rPr>
              <a:t>Art. 24, 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45593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O autor pode se opor a qualquer modificação da obra.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3 · BASE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Por que o sistema saiu do 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133600"/>
            <a:ext cx="10566400" cy="19050"/>
          </a:xfrm>
          <a:prstGeom prst="rect">
            <a:avLst/>
          </a:prstGeom>
          <a:solidFill>
            <a:srgbClr val="15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3114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03F14"/>
                </a:solidFill>
                <a:latin typeface="IBM Plex Sans"/>
              </a:rPr>
              <a:t>Art. 102, Lei 9.610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9600" y="2311400"/>
            <a:ext cx="6959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O autor pode pedir a apreensão das cópias e a suspensão da divulgação, além de indenização.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9750"/>
            <a:ext cx="10566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32639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03F14"/>
                </a:solidFill>
                <a:latin typeface="IBM Plex Sans"/>
              </a:rPr>
              <a:t>Art. 103, Lei 9.610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3263900"/>
            <a:ext cx="6959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Quem edita obra sem autorização perde os exemplares apreendidos e paga o preço dos que vendeu.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4032250"/>
            <a:ext cx="10566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42164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03F14"/>
                </a:solidFill>
                <a:latin typeface="IBM Plex Sans"/>
              </a:rPr>
              <a:t>Art. 184, § 2º, Código Penal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4216400"/>
            <a:ext cx="6959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Vender obra com violação de direito autoral, com intuito de lucro: reclusão de 2 a 4 anos e multa.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984750"/>
            <a:ext cx="10566400" cy="9525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3 · BASE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Códigos de ética profissional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33600"/>
            <a:ext cx="338455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362200"/>
            <a:ext cx="2876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03F14"/>
                </a:solidFill>
                <a:latin typeface="IBM Plex Serif"/>
              </a:rPr>
              <a:t>ACM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832100"/>
            <a:ext cx="28765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Respeitar o trabalho de quem cria obras e artefatos de computação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0550" y="2133600"/>
            <a:ext cx="338455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550" y="2362200"/>
            <a:ext cx="2876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03F14"/>
                </a:solidFill>
                <a:latin typeface="IBM Plex Serif"/>
              </a:rPr>
              <a:t>ACM 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550" y="2832100"/>
            <a:ext cx="28765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Conhecer e respeitar as regras do trabalho profissional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8300" y="2133600"/>
            <a:ext cx="338455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2300" y="2362200"/>
            <a:ext cx="2876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03F14"/>
                </a:solidFill>
                <a:latin typeface="IBM Plex Serif"/>
              </a:rPr>
              <a:t>SBC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2300" y="2832100"/>
            <a:ext cx="28765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Integridade técnica e competência profissional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445000"/>
            <a:ext cx="105664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15203A"/>
                </a:solidFill>
                <a:latin typeface="IBM Plex Serif"/>
              </a:rPr>
              <a:t>"Quem entrega um produto precisa saber de onde vem o que está dentro dele."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4 · PREVENÇÃO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Como a equipe deveria ter agido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2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222500"/>
            <a:ext cx="469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03F14"/>
                </a:solidFill>
                <a:latin typeface="IBM Plex Sans"/>
              </a:rPr>
              <a:t>1. </a:t>
            </a:r>
            <a:r>
              <a:rPr sz="1600" b="1" i="0">
                <a:solidFill>
                  <a:srgbClr val="15203A"/>
                </a:solidFill>
                <a:latin typeface="IBM Plex Sans"/>
              </a:rPr>
              <a:t>Conferir a licença antes de baixar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590800"/>
            <a:ext cx="469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Origem, autor e termos de uso de cada ícone, ilustração e fonte.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32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6200" y="2222500"/>
            <a:ext cx="469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03F14"/>
                </a:solidFill>
                <a:latin typeface="IBM Plex Sans"/>
              </a:rPr>
              <a:t>2. </a:t>
            </a:r>
            <a:r>
              <a:rPr sz="1600" b="1" i="0">
                <a:solidFill>
                  <a:srgbClr val="15203A"/>
                </a:solidFill>
                <a:latin typeface="IBM Plex Sans"/>
              </a:rPr>
              <a:t>Usar material liberado para venda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6200" y="2590800"/>
            <a:ext cx="469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CC BY ou CC0. Fontes sob SIL OFL, ícones sob MIT ou Apache.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4544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3644900"/>
            <a:ext cx="469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03F14"/>
                </a:solidFill>
                <a:latin typeface="IBM Plex Sans"/>
              </a:rPr>
              <a:t>3. </a:t>
            </a:r>
            <a:r>
              <a:rPr sz="1600" b="1" i="0">
                <a:solidFill>
                  <a:srgbClr val="15203A"/>
                </a:solidFill>
                <a:latin typeface="IBM Plex Sans"/>
              </a:rPr>
              <a:t>Manter um inventário de licenças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013200"/>
            <a:ext cx="4699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Planilha com material, autor, origem, licença e autorizações recebidas.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4544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BFAF7"/>
          </a:solidFill>
          <a:ln w="9525">
            <a:solidFill>
              <a:srgbClr val="D9D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6200" y="3644900"/>
            <a:ext cx="469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03F14"/>
                </a:solidFill>
                <a:latin typeface="IBM Plex Sans"/>
              </a:rPr>
              <a:t>4. </a:t>
            </a:r>
            <a:r>
              <a:rPr sz="1600" b="1" i="0">
                <a:solidFill>
                  <a:srgbClr val="15203A"/>
                </a:solidFill>
                <a:latin typeface="IBM Plex Sans"/>
              </a:rPr>
              <a:t>Auditar antes de cada versão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4013200"/>
            <a:ext cx="4699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Ethical code review com design e desenvolvimento. FOSSA, Black Duck e license-checker ajudam, mas a responsabilidade é da equipe.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03F14"/>
                </a:solidFill>
                <a:latin typeface="IBM Plex Sans"/>
              </a:rPr>
              <a:t>5 · RECOMENDAÇÃO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Plano de ação para a NexaTech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133600"/>
            <a:ext cx="3321050" cy="38100"/>
          </a:xfrm>
          <a:prstGeom prst="rect">
            <a:avLst/>
          </a:prstGeom>
          <a:solidFill>
            <a:srgbClr val="A03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362200"/>
            <a:ext cx="3321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5203A"/>
                </a:solidFill>
                <a:latin typeface="IBM Plex Serif"/>
              </a:rPr>
              <a:t>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857500"/>
            <a:ext cx="332105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Tirar do produto todo material NC ou ND e trocar por material liberado para venda.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8650" y="2133600"/>
            <a:ext cx="3321050" cy="38100"/>
          </a:xfrm>
          <a:prstGeom prst="rect">
            <a:avLst/>
          </a:prstGeom>
          <a:solidFill>
            <a:srgbClr val="A03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8650" y="2362200"/>
            <a:ext cx="3321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5203A"/>
                </a:solidFill>
                <a:latin typeface="IBM Plex Serif"/>
              </a:rPr>
              <a:t>Em até 30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8650" y="2857500"/>
            <a:ext cx="332105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Negociar licença comercial com os autores. Corrigir nesse prazo restabelece a CC 4.0, mas não apaga os danos já causados.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4500" y="2133600"/>
            <a:ext cx="3321050" cy="38100"/>
          </a:xfrm>
          <a:prstGeom prst="rect">
            <a:avLst/>
          </a:prstGeom>
          <a:solidFill>
            <a:srgbClr val="A03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4500" y="2362200"/>
            <a:ext cx="3321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5203A"/>
                </a:solidFill>
                <a:latin typeface="IBM Plex Serif"/>
              </a:rPr>
              <a:t>Daqui em diante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4500" y="2857500"/>
            <a:ext cx="332105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E4658"/>
                </a:solidFill>
                <a:latin typeface="IBM Plex Sans"/>
              </a:rPr>
              <a:t>Inventário de licenças junto do código e checagem obrigatória antes de cada versão.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3570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Caso NexaTech · Parecer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050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0A870"/>
                </a:solidFill>
                <a:latin typeface="IBM Plex Sans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286000"/>
            <a:ext cx="105664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5F3EE"/>
                </a:solidFill>
                <a:latin typeface="IBM Plex Serif"/>
              </a:rPr>
              <a:t>Licença é requisito do projeto.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873500"/>
            <a:ext cx="889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C9CFDB"/>
                </a:solidFill>
                <a:latin typeface="IBM Plex Sans"/>
              </a:rPr>
              <a:t>Precisa ser conferida junto com segurança e desempenho, antes do lançamento.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953000"/>
            <a:ext cx="10566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0A870"/>
                </a:solidFill>
                <a:latin typeface="IBM Plex Sans"/>
              </a:rPr>
              <a:t>Obrigado. Perguntas?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15203A"/>
                </a:solidFill>
                <a:latin typeface="IBM Plex Serif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841500"/>
            <a:ext cx="5080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4658"/>
                </a:solidFill>
                <a:latin typeface="IBM Plex Sans"/>
              </a:rPr>
              <a:t>ASSOCIATION FOR COMPUTING MACHINERY. </a:t>
            </a:r>
            <a:r>
              <a:rPr sz="1200" b="1" i="0">
                <a:solidFill>
                  <a:srgbClr val="3E4658"/>
                </a:solidFill>
                <a:latin typeface="IBM Plex Sans"/>
              </a:rPr>
              <a:t>ACM Code of Ethics and Professional Conduct</a:t>
            </a:r>
            <a:r>
              <a:rPr sz="1200" b="0" i="0">
                <a:solidFill>
                  <a:srgbClr val="3E4658"/>
                </a:solidFill>
                <a:latin typeface="IBM Plex Sans"/>
              </a:rPr>
              <a:t>. New York: ACM, 2018. Disponível em: https://www.acm.org/code-of-ethics. Acesso em: 27 set.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99200" y="1841500"/>
            <a:ext cx="5080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4658"/>
                </a:solidFill>
                <a:latin typeface="IBM Plex Sans"/>
              </a:rPr>
              <a:t>BRASIL. </a:t>
            </a:r>
            <a:r>
              <a:rPr sz="1200" b="1" i="0">
                <a:solidFill>
                  <a:srgbClr val="3E4658"/>
                </a:solidFill>
                <a:latin typeface="IBM Plex Sans"/>
              </a:rPr>
              <a:t>Decreto-Lei nº 2.848, de 7 de dezembro de 1940</a:t>
            </a:r>
            <a:r>
              <a:rPr sz="1200" b="0" i="0">
                <a:solidFill>
                  <a:srgbClr val="3E4658"/>
                </a:solidFill>
                <a:latin typeface="IBM Plex Sans"/>
              </a:rPr>
              <a:t>. Código Penal. Brasília, DF: Presidência da República. Disponível em: https://www.planalto.gov.br/ccivil_03/decreto-lei/del2848compilado.htm. Acesso em: 27 set.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175000"/>
            <a:ext cx="5080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4658"/>
                </a:solidFill>
                <a:latin typeface="IBM Plex Sans"/>
              </a:rPr>
              <a:t>BRASIL. </a:t>
            </a:r>
            <a:r>
              <a:rPr sz="1200" b="1" i="0">
                <a:solidFill>
                  <a:srgbClr val="3E4658"/>
                </a:solidFill>
                <a:latin typeface="IBM Plex Sans"/>
              </a:rPr>
              <a:t>Lei nº 9.610, de 19 de fevereiro de 1998</a:t>
            </a:r>
            <a:r>
              <a:rPr sz="1200" b="0" i="0">
                <a:solidFill>
                  <a:srgbClr val="3E4658"/>
                </a:solidFill>
                <a:latin typeface="IBM Plex Sans"/>
              </a:rPr>
              <a:t>. Altera, atualiza e consolida a legislação sobre direitos autorais. Brasília, DF: Presidência da República. Disponível em: https://www.planalto.gov.br/ccivil_03/leis/l9610.htm. Acesso em: 27 set.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200" y="3175000"/>
            <a:ext cx="5080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4658"/>
                </a:solidFill>
                <a:latin typeface="IBM Plex Sans"/>
              </a:rPr>
              <a:t>CENTRO UNIVERSITÁRIO DO DISTRITO FEDERAL. </a:t>
            </a:r>
            <a:r>
              <a:rPr sz="1200" b="1" i="0">
                <a:solidFill>
                  <a:srgbClr val="3E4658"/>
                </a:solidFill>
                <a:latin typeface="IBM Plex Sans"/>
              </a:rPr>
              <a:t>Ética, Cidadania Digital e Direitos</a:t>
            </a:r>
            <a:r>
              <a:rPr sz="1200" b="0" i="0">
                <a:solidFill>
                  <a:srgbClr val="3E4658"/>
                </a:solidFill>
                <a:latin typeface="IBM Plex Sans"/>
              </a:rPr>
              <a:t>. Material didático da disciplina Design Profissional, Unidade 3. Brasília: UDF,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508500"/>
            <a:ext cx="5080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4658"/>
                </a:solidFill>
                <a:latin typeface="IBM Plex Sans"/>
              </a:rPr>
              <a:t>CREATIVE COMMONS. </a:t>
            </a:r>
            <a:r>
              <a:rPr sz="1200" b="1" i="0">
                <a:solidFill>
                  <a:srgbClr val="3E4658"/>
                </a:solidFill>
                <a:latin typeface="IBM Plex Sans"/>
              </a:rPr>
              <a:t>Atribuição-NãoComercial-SemDerivações 4.0 Internacional</a:t>
            </a:r>
            <a:r>
              <a:rPr sz="1200" b="0" i="0">
                <a:solidFill>
                  <a:srgbClr val="3E4658"/>
                </a:solidFill>
                <a:latin typeface="IBM Plex Sans"/>
              </a:rPr>
              <a:t>. Disponível em: https://creativecommons.org/licenses/by-nc-nd/4.0/deed.pt-br. Acesso em: 27 set.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0" y="4508500"/>
            <a:ext cx="5080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4658"/>
                </a:solidFill>
                <a:latin typeface="IBM Plex Sans"/>
              </a:rPr>
              <a:t>SOCIEDADE BRASILEIRA DE COMPUTAÇÃO. </a:t>
            </a:r>
            <a:r>
              <a:rPr sz="1200" b="1" i="0">
                <a:solidFill>
                  <a:srgbClr val="3E4658"/>
                </a:solidFill>
                <a:latin typeface="IBM Plex Sans"/>
              </a:rPr>
              <a:t>Código de Ética do Profissional de Informática</a:t>
            </a:r>
            <a:r>
              <a:rPr sz="1200" b="0" i="0">
                <a:solidFill>
                  <a:srgbClr val="3E4658"/>
                </a:solidFill>
                <a:latin typeface="IBM Plex Sans"/>
              </a:rPr>
              <a:t>. Porto Alegre: SBC. Disponível em: https://www.sbc.org.br. Acesso em: 27 set.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9200" y="62357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IBM Plex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